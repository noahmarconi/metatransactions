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5" r:id="rId3"/>
    <p:sldId id="292" r:id="rId4"/>
    <p:sldId id="291" r:id="rId5"/>
    <p:sldId id="295" r:id="rId6"/>
    <p:sldId id="296" r:id="rId7"/>
    <p:sldId id="297" r:id="rId8"/>
    <p:sldId id="298" r:id="rId9"/>
    <p:sldId id="293" r:id="rId10"/>
    <p:sldId id="294" r:id="rId11"/>
    <p:sldId id="306" r:id="rId12"/>
    <p:sldId id="290" r:id="rId13"/>
    <p:sldId id="302" r:id="rId14"/>
    <p:sldId id="305" r:id="rId15"/>
    <p:sldId id="303" r:id="rId16"/>
    <p:sldId id="304" r:id="rId17"/>
    <p:sldId id="299" r:id="rId18"/>
    <p:sldId id="300" r:id="rId19"/>
    <p:sldId id="301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B34"/>
    <a:srgbClr val="D14D14"/>
    <a:srgbClr val="404040"/>
    <a:srgbClr val="009999"/>
    <a:srgbClr val="401758"/>
    <a:srgbClr val="F469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49" autoAdjust="0"/>
    <p:restoredTop sz="94290" autoAdjust="0"/>
  </p:normalViewPr>
  <p:slideViewPr>
    <p:cSldViewPr snapToGrid="0">
      <p:cViewPr>
        <p:scale>
          <a:sx n="71" d="100"/>
          <a:sy n="71" d="100"/>
        </p:scale>
        <p:origin x="1984" y="1064"/>
      </p:cViewPr>
      <p:guideLst>
        <p:guide orient="horz" pos="3838"/>
        <p:guide pos="3840"/>
      </p:guideLst>
    </p:cSldViewPr>
  </p:slideViewPr>
  <p:outlineViewPr>
    <p:cViewPr>
      <p:scale>
        <a:sx n="33" d="100"/>
        <a:sy n="33" d="100"/>
      </p:scale>
      <p:origin x="0" y="-16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76398-F6A8-48D2-90FE-CB68945DF386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8E6C2-BC22-424A-BBD6-3E811F0642B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8794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DBBC-00E0-4A4D-AAF7-C27A6AF93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5012B-457C-4944-AFB3-B72D8FC22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CA40-F23B-40F7-A45D-7AA2C23F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ED015-2C6C-4467-B02F-BE404C90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D9ACE-ACB7-4FE6-A9D7-61207131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739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1D8C-A45A-49D4-B694-2E3770F8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94CCB-316F-4172-A0E4-7B8192DBC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18A6B-236F-4E57-B5DA-E1ADF71B4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446B2-5595-4EC7-8D04-A4B9D71B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A8F15-CB33-459A-B4EB-296A23D2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520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9F54-62FE-432C-B319-6CDA310E9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5CAB7-C6F5-4159-8B27-F7A628CC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4F6B0-8DA6-4697-9746-2E3EDC4A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6A123-2E27-464D-8B7F-600561BC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E35D8-A680-4E91-8CB1-63D7AB01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580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372D-E1C3-4A71-BE99-6BB1EF31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F69FD-3146-49A2-90B2-DFD42114B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42A4F-D385-465C-86DD-DB28F0B91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15876-BDE4-416D-A9BA-7745A09D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273E1-DF77-4671-8727-31007A69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A5DF7-3301-4963-8C15-C0748559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985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DFC1-6E0F-48A7-90EA-38D171628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055EA-DCDE-40CD-BF9D-850006E67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93CEE-05D8-4693-94EF-857C7290F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D3603-C50C-4092-BE61-EC7180223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77C8EC-6B75-46A4-A681-6F4958A20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481C5-9325-437E-9582-630AF1BF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BD891-27ED-4C05-AFAF-20C6FBC2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2FB53-36D0-4FE1-9B59-577B2E96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378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BA32-1583-4642-AE31-B6992820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80082-A2C0-458B-944C-9A49A414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C3398-7FD9-4F13-B950-CCDCEBE8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9FC7A-9CE3-4082-A6C6-2A03669E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2832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D7320-A205-4EF0-BC18-2F5E9620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D2D78-EC68-4FD0-B547-DC2927BE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09C26-6804-43CF-8304-93D457EC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8159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2D82-824B-4119-A44C-B8DB73409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F8168-A7EC-42BE-BF52-B66F329C3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C6CF1-5EF4-4FD7-A350-8F68D3455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C5219-805F-42F9-B57A-BFB95635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1FFC4-853A-47C0-BA03-A335E3FA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A0346-6A95-4C3C-8C66-74C829C8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6138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0B8E-7D5A-465D-8A27-19C119AF6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11E944-8944-407D-B08B-4667130B0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B626E-0F3B-4141-9FD1-80D4BE7AB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25521-20C5-4BA8-9996-155CA525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25B5B-6BF5-440B-B3F7-2218A29E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70219-9AED-4900-98F8-97AE903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623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0E6B-9133-4467-9853-FE017894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F2DB7-B0DE-4439-BB6A-CB6E76F6F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AEAF2-53E0-440A-8E0E-ABAD21C0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1ECC0-D218-495E-90E1-1A1F9567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C28BB-87B6-474B-A2B3-A23C3F5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7497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991D7F-0B90-4919-A3CC-2FDA861CA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444E6-1412-4426-8154-D3F1F00B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2A478-E561-4428-9009-C49258DB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1FCFE-6538-430B-9414-5BB6ED0B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5915-09BA-4D29-8CA2-6AA21E3B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62683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172994-6E60-4182-8B4D-1937C401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5E1E3-56D3-4150-9EB4-C1DDF8F77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6B877-111E-48D1-9E9F-49DDAC1C9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5E1AF-6215-44A6-9B6A-3D62C4F39307}" type="datetimeFigureOut">
              <a:rPr lang="en-CA" smtClean="0"/>
              <a:t>2018-11-28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8A16-15F3-4034-8D33-1787856D5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1731A-5E1F-4100-9DE6-1200833D2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0EFC1-922C-4C4B-A87E-8F3DAE27EE48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8201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gloyalty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alting_proble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thers.io/ethers.js/html/api-providers.html#transaction-reques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thers.io/ethers.js/html/api-providers.html#transaction-reques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thers.io/ethers.js/html/api-providers.html#transaction-reques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thers.io/ethers.js/html/api-providers.html#transaction-reques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thers.io/ethers.js/html/api-providers.html#transaction-reques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ahMarconi/metatransaction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icmoo.com/merkle-air-drops-e6406945584d?gi=5c1c7f05c46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edium.com/@weka/how-to-send-ether-to-11-440-people-187e332566b7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ips.ethereum.org/EIPS/eip-107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tagloyalty.com/" TargetMode="External"/><Relationship Id="rId5" Type="http://schemas.openxmlformats.org/officeDocument/2006/relationships/hyperlink" Target="https://github.com/jpitts/eth-community-discussions/blob/master/meta-transactions.md" TargetMode="External"/><Relationship Id="rId4" Type="http://schemas.openxmlformats.org/officeDocument/2006/relationships/hyperlink" Target="https://medium.com/coinmonks/gasless-transactions-f75382095c4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7D23DC-32E4-4B56-833D-1D6DBB009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432" y="619311"/>
            <a:ext cx="3357135" cy="31976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B1099F-5AD6-4EA7-8D05-6340485EDD4E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0" dirty="0">
                <a:effectLst/>
              </a:rPr>
              <a:t> 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DBD861-587C-3A4B-8C8E-1917BD851284}"/>
              </a:ext>
            </a:extLst>
          </p:cNvPr>
          <p:cNvSpPr/>
          <p:nvPr/>
        </p:nvSpPr>
        <p:spPr>
          <a:xfrm>
            <a:off x="3047999" y="3816951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Meta Transactions: </a:t>
            </a:r>
          </a:p>
          <a:p>
            <a:pPr algn="ctr"/>
            <a:r>
              <a:rPr 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Gassless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/ </a:t>
            </a:r>
            <a:r>
              <a:rPr 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Etherless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/ Subsidized</a:t>
            </a:r>
          </a:p>
          <a:p>
            <a:pPr algn="ctr"/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Transacting on Ethereum</a:t>
            </a:r>
            <a:endParaRPr lang="en-US" sz="32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DD46FA3-9A5F-3941-9FF5-C7FA8A26E851}"/>
              </a:ext>
            </a:extLst>
          </p:cNvPr>
          <p:cNvSpPr txBox="1">
            <a:spLocks/>
          </p:cNvSpPr>
          <p:nvPr/>
        </p:nvSpPr>
        <p:spPr>
          <a:xfrm>
            <a:off x="274320" y="6343650"/>
            <a:ext cx="9239250" cy="5143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CryptoCamp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2018</a:t>
            </a:r>
            <a:endParaRPr lang="en-CA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CB1A83-DDFD-8E4B-A363-4DED94F0331C}"/>
              </a:ext>
            </a:extLst>
          </p:cNvPr>
          <p:cNvSpPr txBox="1">
            <a:spLocks/>
          </p:cNvSpPr>
          <p:nvPr/>
        </p:nvSpPr>
        <p:spPr>
          <a:xfrm>
            <a:off x="4812030" y="6343650"/>
            <a:ext cx="7178040" cy="5143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hlinkClick r:id="rId3"/>
              </a:rPr>
              <a:t>tagloyalty.com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162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869"/>
            <a:ext cx="10515600" cy="816292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Why Ether Exists?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D2F32926-E9D5-794C-A884-F5EE2C3FA0BE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Halting Problem:</a:t>
            </a:r>
          </a:p>
          <a:p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“determining, from a description of an arbitrary computer program and an input, whether the program will </a:t>
            </a:r>
            <a:r>
              <a:rPr lang="en-US" sz="2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finish running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(i.e., halt) or continue to</a:t>
            </a:r>
            <a:r>
              <a:rPr lang="en-US" sz="2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run forever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.”</a:t>
            </a:r>
          </a:p>
          <a:p>
            <a:pPr algn="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-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3"/>
              </a:rPr>
              <a:t>https://en.wikipedia.org/wiki/Halting_problem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</a:t>
            </a:r>
          </a:p>
          <a:p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41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77" y="965200"/>
            <a:ext cx="4474140" cy="31753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latin typeface="Abadi Extra Light" panose="020B0604020202020204" pitchFamily="34" charset="0"/>
                <a:ea typeface="+mn-ea"/>
                <a:cs typeface="+mn-cs"/>
              </a:rPr>
              <a:t>Story Time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8DD249-7BAF-43E4-96D2-897DF8277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9584" y="0"/>
            <a:ext cx="6192415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709A93-4FBF-496D-9228-3D3DBCF5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5906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0535EE-2F23-B74D-88B5-5964DBD52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908" y="854290"/>
            <a:ext cx="5446183" cy="167470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AC6F8F5A-EAFE-459F-8F54-9D86D539F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0991" y="3474720"/>
            <a:ext cx="3007289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01E5C0-E8EE-4943-9DB0-BE8F4E9DC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676" y="3796452"/>
            <a:ext cx="1428780" cy="255989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C3FD65E3-4E8F-40F8-B00F-C3CA65D8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4711" y="3474720"/>
            <a:ext cx="3007289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FA2231-FFDF-4250-983C-D460855A3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4616" y="3474720"/>
            <a:ext cx="3007289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AFEB4C-6082-D446-8C29-CECC2CBD4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533" y="3894242"/>
            <a:ext cx="2364317" cy="236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59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333043"/>
            <a:ext cx="9464040" cy="4242435"/>
          </a:xfrm>
        </p:spPr>
        <p:txBody>
          <a:bodyPr anchor="ctr">
            <a:normAutofit/>
          </a:bodyPr>
          <a:lstStyle/>
          <a:p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{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Required unless deploying a contract (in which case omit)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to: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addressOrName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target address or ENS name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optional/meaningless for call and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estimateGas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nonce: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transaction nonce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gasLimit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maximum gas this transaction may spend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gasPrice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price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per unit of gas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always optional (but for call, data is usually specified)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data: </a:t>
            </a:r>
            <a:r>
              <a:rPr lang="en-CA" sz="1400" dirty="0">
                <a:solidFill>
                  <a:srgbClr val="D14D14"/>
                </a:solidFill>
                <a:latin typeface="Andale Mono" panose="020B0509000000000004" pitchFamily="49" charset="0"/>
              </a:rPr>
              <a:t>"0x"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extra data for the transaction, or input for call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value: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amount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this transaction is sending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chainId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3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network ID; usually added by a signer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}</a:t>
            </a:r>
            <a:endParaRPr lang="en-CA" sz="1400" dirty="0">
              <a:solidFill>
                <a:schemeClr val="tx1">
                  <a:lumMod val="75000"/>
                  <a:lumOff val="25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FC89DB-3CD2-694A-A9A1-5455243ED116}"/>
              </a:ext>
            </a:extLst>
          </p:cNvPr>
          <p:cNvSpPr/>
          <p:nvPr/>
        </p:nvSpPr>
        <p:spPr>
          <a:xfrm>
            <a:off x="49530" y="483056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hlinkClick r:id="rId3"/>
              </a:rPr>
              <a:t>https://docs.ethers.io/ethers.js/html/api-providers.html#transaction-requests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10515600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Anatomy of an Ethereum Transaction</a:t>
            </a:r>
          </a:p>
        </p:txBody>
      </p:sp>
    </p:spTree>
    <p:extLst>
      <p:ext uri="{BB962C8B-B14F-4D97-AF65-F5344CB8AC3E}">
        <p14:creationId xmlns:p14="http://schemas.microsoft.com/office/powerpoint/2010/main" val="281843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333043"/>
            <a:ext cx="9464040" cy="4242435"/>
          </a:xfrm>
        </p:spPr>
        <p:txBody>
          <a:bodyPr anchor="ctr">
            <a:normAutofit/>
          </a:bodyPr>
          <a:lstStyle/>
          <a:p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{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Required unless deploying a contract (in which case omit)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to: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addressOrName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target address or ENS name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optional/meaningless for call and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estimateGas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nonce: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transaction nonce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gasLimit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maximum gas this transaction may spend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gasPrice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price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per unit of gas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always optional (but for call, data is usually specified)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data: </a:t>
            </a:r>
            <a:r>
              <a:rPr lang="en-CA" sz="1400" dirty="0">
                <a:solidFill>
                  <a:srgbClr val="D14D14"/>
                </a:solidFill>
                <a:latin typeface="Andale Mono" panose="020B0509000000000004" pitchFamily="49" charset="0"/>
              </a:rPr>
              <a:t>"0x"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extra data for the transaction, or input for call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value: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amount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this transaction is sending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chainId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3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network ID; usually added by a signer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}</a:t>
            </a:r>
            <a:endParaRPr lang="en-CA" sz="1400" dirty="0">
              <a:solidFill>
                <a:schemeClr val="tx1">
                  <a:lumMod val="75000"/>
                  <a:lumOff val="25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FC89DB-3CD2-694A-A9A1-5455243ED116}"/>
              </a:ext>
            </a:extLst>
          </p:cNvPr>
          <p:cNvSpPr/>
          <p:nvPr/>
        </p:nvSpPr>
        <p:spPr>
          <a:xfrm>
            <a:off x="49530" y="483056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hlinkClick r:id="rId3"/>
              </a:rPr>
              <a:t>https://docs.ethers.io/ethers.js/html/api-providers.html#transaction-requests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10515600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Anatomy of an Ethereum Transaction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4A5EE6D-3840-7448-ABE9-BCA9D3407BAD}"/>
              </a:ext>
            </a:extLst>
          </p:cNvPr>
          <p:cNvSpPr txBox="1">
            <a:spLocks/>
          </p:cNvSpPr>
          <p:nvPr/>
        </p:nvSpPr>
        <p:spPr>
          <a:xfrm>
            <a:off x="8206740" y="1634491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Hash it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27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333043"/>
            <a:ext cx="9464040" cy="4242435"/>
          </a:xfrm>
        </p:spPr>
        <p:txBody>
          <a:bodyPr anchor="ctr">
            <a:normAutofit/>
          </a:bodyPr>
          <a:lstStyle/>
          <a:p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{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Required unless deploying a contract (in which case omit)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to: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addressOrName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target address or ENS name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optional/meaningless for call and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estimateGas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nonce: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transaction nonce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gasLimit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maximum gas this transaction may spend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gasPrice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price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per unit of gas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always optional (but for call, data is usually specified)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data: </a:t>
            </a:r>
            <a:r>
              <a:rPr lang="en-CA" sz="1400" dirty="0">
                <a:solidFill>
                  <a:srgbClr val="D14D14"/>
                </a:solidFill>
                <a:latin typeface="Andale Mono" panose="020B0509000000000004" pitchFamily="49" charset="0"/>
              </a:rPr>
              <a:t>"0x"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extra data for the transaction, or input for call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value: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amount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this transaction is sending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chainId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3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network ID; usually added by a signer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}</a:t>
            </a:r>
            <a:endParaRPr lang="en-CA" sz="1400" dirty="0">
              <a:solidFill>
                <a:schemeClr val="tx1">
                  <a:lumMod val="75000"/>
                  <a:lumOff val="25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FC89DB-3CD2-694A-A9A1-5455243ED116}"/>
              </a:ext>
            </a:extLst>
          </p:cNvPr>
          <p:cNvSpPr/>
          <p:nvPr/>
        </p:nvSpPr>
        <p:spPr>
          <a:xfrm>
            <a:off x="49530" y="483056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hlinkClick r:id="rId3"/>
              </a:rPr>
              <a:t>https://docs.ethers.io/ethers.js/html/api-providers.html#transaction-requests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10515600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Anatomy of an Ethereum Transaction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4A5EE6D-3840-7448-ABE9-BCA9D3407BAD}"/>
              </a:ext>
            </a:extLst>
          </p:cNvPr>
          <p:cNvSpPr txBox="1">
            <a:spLocks/>
          </p:cNvSpPr>
          <p:nvPr/>
        </p:nvSpPr>
        <p:spPr>
          <a:xfrm>
            <a:off x="8206740" y="1634491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Hash it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09A0814-BDDF-224B-8452-1BCE27BCC892}"/>
              </a:ext>
            </a:extLst>
          </p:cNvPr>
          <p:cNvSpPr txBox="1">
            <a:spLocks/>
          </p:cNvSpPr>
          <p:nvPr/>
        </p:nvSpPr>
        <p:spPr>
          <a:xfrm>
            <a:off x="8206740" y="2491740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Sign it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188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333043"/>
            <a:ext cx="9464040" cy="4242435"/>
          </a:xfrm>
        </p:spPr>
        <p:txBody>
          <a:bodyPr anchor="ctr">
            <a:normAutofit/>
          </a:bodyPr>
          <a:lstStyle/>
          <a:p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{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Required unless deploying a contract (in which case omit)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to: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addressOrName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target address or ENS name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optional/meaningless for call and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estimateGas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nonce: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transaction nonce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gasLimit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maximum gas this transaction may spend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gasPrice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price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per unit of gas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always optional (but for call, data is usually specified)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data: </a:t>
            </a:r>
            <a:r>
              <a:rPr lang="en-CA" sz="1400" dirty="0">
                <a:solidFill>
                  <a:srgbClr val="D14D14"/>
                </a:solidFill>
                <a:latin typeface="Andale Mono" panose="020B0509000000000004" pitchFamily="49" charset="0"/>
              </a:rPr>
              <a:t>"0x"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extra data for the transaction, or input for call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value: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amount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this transaction is sending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chainId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3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network ID; usually added by a signer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}</a:t>
            </a:r>
            <a:endParaRPr lang="en-CA" sz="1400" dirty="0">
              <a:solidFill>
                <a:schemeClr val="tx1">
                  <a:lumMod val="75000"/>
                  <a:lumOff val="25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FC89DB-3CD2-694A-A9A1-5455243ED116}"/>
              </a:ext>
            </a:extLst>
          </p:cNvPr>
          <p:cNvSpPr/>
          <p:nvPr/>
        </p:nvSpPr>
        <p:spPr>
          <a:xfrm>
            <a:off x="49530" y="483056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hlinkClick r:id="rId3"/>
              </a:rPr>
              <a:t>https://docs.ethers.io/ethers.js/html/api-providers.html#transaction-requests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10515600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Anatomy of an Ethereum Transaction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4A5EE6D-3840-7448-ABE9-BCA9D3407BAD}"/>
              </a:ext>
            </a:extLst>
          </p:cNvPr>
          <p:cNvSpPr txBox="1">
            <a:spLocks/>
          </p:cNvSpPr>
          <p:nvPr/>
        </p:nvSpPr>
        <p:spPr>
          <a:xfrm>
            <a:off x="8206740" y="1634491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Hash it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09A0814-BDDF-224B-8452-1BCE27BCC892}"/>
              </a:ext>
            </a:extLst>
          </p:cNvPr>
          <p:cNvSpPr txBox="1">
            <a:spLocks/>
          </p:cNvSpPr>
          <p:nvPr/>
        </p:nvSpPr>
        <p:spPr>
          <a:xfrm>
            <a:off x="8206740" y="2491740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Sign it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55CBD5EF-2B97-8F42-8F49-9095FBA814FD}"/>
              </a:ext>
            </a:extLst>
          </p:cNvPr>
          <p:cNvSpPr txBox="1">
            <a:spLocks/>
          </p:cNvSpPr>
          <p:nvPr/>
        </p:nvSpPr>
        <p:spPr>
          <a:xfrm>
            <a:off x="8206740" y="3344720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Send to network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54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333043"/>
            <a:ext cx="9464040" cy="4242435"/>
          </a:xfrm>
        </p:spPr>
        <p:txBody>
          <a:bodyPr anchor="ctr">
            <a:normAutofit/>
          </a:bodyPr>
          <a:lstStyle/>
          <a:p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{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Required unless deploying a contract (in which case omit)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to: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addressOrName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target address or ENS name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optional/meaningless for call and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estimateGas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nonce: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transaction nonce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gasLimit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maximum gas this transaction may spend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gasPrice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price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per unit of gas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These are always optional (but for call, data is usually specified)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data: </a:t>
            </a:r>
            <a:r>
              <a:rPr lang="en-CA" sz="1400" dirty="0">
                <a:solidFill>
                  <a:srgbClr val="D14D14"/>
                </a:solidFill>
                <a:latin typeface="Andale Mono" panose="020B0509000000000004" pitchFamily="49" charset="0"/>
              </a:rPr>
              <a:t>"0x"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extra data for the transaction, or input for call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value: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0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, 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amount (in </a:t>
            </a:r>
            <a:r>
              <a:rPr lang="en-CA" sz="1400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wei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this transaction is sending</a:t>
            </a:r>
            <a:b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</a:t>
            </a:r>
            <a:r>
              <a:rPr lang="en-CA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chainId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: </a:t>
            </a:r>
            <a:r>
              <a:rPr lang="en-CA" sz="1400" dirty="0">
                <a:solidFill>
                  <a:srgbClr val="009999"/>
                </a:solidFill>
                <a:latin typeface="Andale Mono" panose="020B0509000000000004" pitchFamily="49" charset="0"/>
              </a:rPr>
              <a:t>3</a:t>
            </a: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          </a:t>
            </a:r>
            <a: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// the network ID; usually added by a signer</a:t>
            </a:r>
            <a:br>
              <a:rPr lang="en-CA" sz="1400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}</a:t>
            </a:r>
            <a:endParaRPr lang="en-CA" sz="1400" dirty="0">
              <a:solidFill>
                <a:schemeClr val="tx1">
                  <a:lumMod val="75000"/>
                  <a:lumOff val="25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FC89DB-3CD2-694A-A9A1-5455243ED116}"/>
              </a:ext>
            </a:extLst>
          </p:cNvPr>
          <p:cNvSpPr/>
          <p:nvPr/>
        </p:nvSpPr>
        <p:spPr>
          <a:xfrm>
            <a:off x="49530" y="4830561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hlinkClick r:id="rId3"/>
              </a:rPr>
              <a:t>https://docs.ethers.io/ethers.js/html/api-providers.html#transaction-requests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10515600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Anatomy of an Ethereum Transaction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4A5EE6D-3840-7448-ABE9-BCA9D3407BAD}"/>
              </a:ext>
            </a:extLst>
          </p:cNvPr>
          <p:cNvSpPr txBox="1">
            <a:spLocks/>
          </p:cNvSpPr>
          <p:nvPr/>
        </p:nvSpPr>
        <p:spPr>
          <a:xfrm>
            <a:off x="8206740" y="1634491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Hash it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09A0814-BDDF-224B-8452-1BCE27BCC892}"/>
              </a:ext>
            </a:extLst>
          </p:cNvPr>
          <p:cNvSpPr txBox="1">
            <a:spLocks/>
          </p:cNvSpPr>
          <p:nvPr/>
        </p:nvSpPr>
        <p:spPr>
          <a:xfrm>
            <a:off x="8206740" y="2491740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Sign it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55CBD5EF-2B97-8F42-8F49-9095FBA814FD}"/>
              </a:ext>
            </a:extLst>
          </p:cNvPr>
          <p:cNvSpPr txBox="1">
            <a:spLocks/>
          </p:cNvSpPr>
          <p:nvPr/>
        </p:nvSpPr>
        <p:spPr>
          <a:xfrm>
            <a:off x="8206740" y="3344720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Send to network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6A9A376-DC14-9740-8E1E-DB5C248CB3BF}"/>
              </a:ext>
            </a:extLst>
          </p:cNvPr>
          <p:cNvSpPr txBox="1">
            <a:spLocks/>
          </p:cNvSpPr>
          <p:nvPr/>
        </p:nvSpPr>
        <p:spPr>
          <a:xfrm>
            <a:off x="8221980" y="4197700"/>
            <a:ext cx="398526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Wait till mined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79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10515600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What if…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5FDDA5-502A-9C41-A449-1A5701F96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1458191"/>
            <a:ext cx="2861735" cy="981250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4439CC92-8CCB-C646-B488-8ED362BD86ED}"/>
              </a:ext>
            </a:extLst>
          </p:cNvPr>
          <p:cNvSpPr/>
          <p:nvPr/>
        </p:nvSpPr>
        <p:spPr>
          <a:xfrm>
            <a:off x="4736255" y="1280161"/>
            <a:ext cx="678180" cy="13373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28A75079-0663-C74D-A106-0BAB298A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120" y="1547813"/>
            <a:ext cx="2534920" cy="80200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hash and sign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8462DB-477F-9A4C-BD68-77BBEBE1C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668" y="3525203"/>
            <a:ext cx="7682171" cy="2634112"/>
          </a:xfrm>
          <a:prstGeom prst="rect">
            <a:avLst/>
          </a:prstGeom>
        </p:spPr>
      </p:pic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A024284-2A87-8045-BC0F-1B2C56969EA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H="1">
            <a:off x="4372668" y="1948816"/>
            <a:ext cx="3694372" cy="2893443"/>
          </a:xfrm>
          <a:prstGeom prst="curvedConnector5">
            <a:avLst>
              <a:gd name="adj1" fmla="val -22276"/>
              <a:gd name="adj2" fmla="val 40095"/>
              <a:gd name="adj3" fmla="val 1584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3">
            <a:extLst>
              <a:ext uri="{FF2B5EF4-FFF2-40B4-BE49-F238E27FC236}">
                <a16:creationId xmlns:a16="http://schemas.microsoft.com/office/drawing/2014/main" id="{763C307D-28B2-D34C-AE02-E8BBB7A9126B}"/>
              </a:ext>
            </a:extLst>
          </p:cNvPr>
          <p:cNvSpPr txBox="1">
            <a:spLocks/>
          </p:cNvSpPr>
          <p:nvPr/>
        </p:nvSpPr>
        <p:spPr>
          <a:xfrm>
            <a:off x="1223010" y="4842259"/>
            <a:ext cx="2915920" cy="95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include as </a:t>
            </a:r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data</a:t>
            </a: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in new transaction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637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10515600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What if…</a:t>
            </a:r>
          </a:p>
        </p:txBody>
      </p:sp>
      <p:sp>
        <p:nvSpPr>
          <p:cNvPr id="24" name="Title 3">
            <a:extLst>
              <a:ext uri="{FF2B5EF4-FFF2-40B4-BE49-F238E27FC236}">
                <a16:creationId xmlns:a16="http://schemas.microsoft.com/office/drawing/2014/main" id="{763C307D-28B2-D34C-AE02-E8BBB7A9126B}"/>
              </a:ext>
            </a:extLst>
          </p:cNvPr>
          <p:cNvSpPr txBox="1">
            <a:spLocks/>
          </p:cNvSpPr>
          <p:nvPr/>
        </p:nvSpPr>
        <p:spPr>
          <a:xfrm>
            <a:off x="266701" y="2596514"/>
            <a:ext cx="3596640" cy="2037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Someone else foots the gas bill</a:t>
            </a:r>
            <a:endParaRPr lang="en-CA" sz="3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E6593A-5D02-0D4E-A730-E344A5203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91" y="463869"/>
            <a:ext cx="8042909" cy="603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27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45E98DFB-C138-4840-9EE4-E86FAC225AF8}"/>
              </a:ext>
            </a:extLst>
          </p:cNvPr>
          <p:cNvSpPr txBox="1">
            <a:spLocks/>
          </p:cNvSpPr>
          <p:nvPr/>
        </p:nvSpPr>
        <p:spPr>
          <a:xfrm>
            <a:off x="838200" y="463869"/>
            <a:ext cx="4970929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Normal Tx</a:t>
            </a:r>
          </a:p>
        </p:txBody>
      </p:sp>
      <p:sp>
        <p:nvSpPr>
          <p:cNvPr id="24" name="Title 3">
            <a:extLst>
              <a:ext uri="{FF2B5EF4-FFF2-40B4-BE49-F238E27FC236}">
                <a16:creationId xmlns:a16="http://schemas.microsoft.com/office/drawing/2014/main" id="{763C307D-28B2-D34C-AE02-E8BBB7A9126B}"/>
              </a:ext>
            </a:extLst>
          </p:cNvPr>
          <p:cNvSpPr txBox="1">
            <a:spLocks/>
          </p:cNvSpPr>
          <p:nvPr/>
        </p:nvSpPr>
        <p:spPr>
          <a:xfrm>
            <a:off x="838200" y="1933124"/>
            <a:ext cx="5506569" cy="3338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Sign </a:t>
            </a:r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transaction</a:t>
            </a:r>
          </a:p>
          <a:p>
            <a:endParaRPr lang="en-CA" sz="32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Protocol</a:t>
            </a:r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verifies signature</a:t>
            </a:r>
          </a:p>
          <a:p>
            <a:endParaRPr lang="en-CA" sz="32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Contract </a:t>
            </a:r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verifies</a:t>
            </a:r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</a:t>
            </a:r>
            <a:r>
              <a:rPr lang="en-CA" sz="2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  <a:ea typeface="+mn-ea"/>
                <a:cs typeface="+mn-cs"/>
              </a:rPr>
              <a:t>msg.sender</a:t>
            </a:r>
            <a:endParaRPr lang="en-CA" sz="2500" dirty="0">
              <a:solidFill>
                <a:schemeClr val="tx1">
                  <a:lumMod val="50000"/>
                  <a:lumOff val="50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  <a:p>
            <a:endParaRPr lang="en-CA" sz="2500" dirty="0">
              <a:solidFill>
                <a:schemeClr val="tx1">
                  <a:lumMod val="50000"/>
                  <a:lumOff val="50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  <a:p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Protocol</a:t>
            </a:r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handles replay protection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80086DF-7A27-6F41-A914-22BCDB78C7F0}"/>
              </a:ext>
            </a:extLst>
          </p:cNvPr>
          <p:cNvSpPr txBox="1">
            <a:spLocks/>
          </p:cNvSpPr>
          <p:nvPr/>
        </p:nvSpPr>
        <p:spPr>
          <a:xfrm>
            <a:off x="6344769" y="463869"/>
            <a:ext cx="4970929" cy="816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Meta Tx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6007391-53D1-594A-AC69-E4D0535F0E0B}"/>
              </a:ext>
            </a:extLst>
          </p:cNvPr>
          <p:cNvSpPr txBox="1">
            <a:spLocks/>
          </p:cNvSpPr>
          <p:nvPr/>
        </p:nvSpPr>
        <p:spPr>
          <a:xfrm>
            <a:off x="6344769" y="1933124"/>
            <a:ext cx="5506569" cy="3338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Sign </a:t>
            </a:r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data</a:t>
            </a:r>
          </a:p>
          <a:p>
            <a:endParaRPr lang="en-CA" sz="32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Contract</a:t>
            </a:r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verifies signature</a:t>
            </a:r>
          </a:p>
          <a:p>
            <a:endParaRPr lang="en-CA" sz="32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Contract </a:t>
            </a:r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agnostic</a:t>
            </a:r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to </a:t>
            </a:r>
            <a:r>
              <a:rPr lang="en-CA" sz="2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  <a:ea typeface="+mn-ea"/>
                <a:cs typeface="+mn-cs"/>
              </a:rPr>
              <a:t>msg.sender</a:t>
            </a:r>
            <a:endParaRPr lang="en-CA" sz="2500" dirty="0">
              <a:solidFill>
                <a:schemeClr val="tx1">
                  <a:lumMod val="50000"/>
                  <a:lumOff val="50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  <a:p>
            <a:endParaRPr lang="en-CA" sz="2500" dirty="0">
              <a:solidFill>
                <a:schemeClr val="tx1">
                  <a:lumMod val="50000"/>
                  <a:lumOff val="50000"/>
                </a:schemeClr>
              </a:solidFill>
              <a:latin typeface="Andale Mono" panose="020B0509000000000004" pitchFamily="49" charset="0"/>
              <a:ea typeface="+mn-ea"/>
              <a:cs typeface="+mn-cs"/>
            </a:endParaRPr>
          </a:p>
          <a:p>
            <a:r>
              <a:rPr lang="en-CA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Contract</a:t>
            </a:r>
            <a:r>
              <a:rPr lang="en-CA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handles replay protection</a:t>
            </a:r>
          </a:p>
        </p:txBody>
      </p:sp>
    </p:spTree>
    <p:extLst>
      <p:ext uri="{BB962C8B-B14F-4D97-AF65-F5344CB8AC3E}">
        <p14:creationId xmlns:p14="http://schemas.microsoft.com/office/powerpoint/2010/main" val="272053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8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Demo Time</a:t>
            </a:r>
            <a:endParaRPr lang="en-CA" sz="88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764B99-6E16-D74B-888F-BCBEA7C6C738}"/>
              </a:ext>
            </a:extLst>
          </p:cNvPr>
          <p:cNvSpPr/>
          <p:nvPr/>
        </p:nvSpPr>
        <p:spPr>
          <a:xfrm>
            <a:off x="3535809" y="4074575"/>
            <a:ext cx="5107681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hlinkClick r:id="rId3"/>
              </a:rPr>
              <a:t>https://github.com/NoahMarconi/metatransactions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2000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698B75-EC96-AC4E-A403-81F19B78F4B3}"/>
              </a:ext>
            </a:extLst>
          </p:cNvPr>
          <p:cNvSpPr/>
          <p:nvPr/>
        </p:nvSpPr>
        <p:spPr>
          <a:xfrm>
            <a:off x="303336" y="3244334"/>
            <a:ext cx="11643360" cy="369332"/>
          </a:xfrm>
          <a:prstGeom prst="rect">
            <a:avLst/>
          </a:prstGeom>
          <a:solidFill>
            <a:srgbClr val="0C2B34"/>
          </a:solidFill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mapping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(</a:t>
            </a:r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=&gt; </a:t>
            </a:r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uint256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private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_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nonces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0805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698B75-EC96-AC4E-A403-81F19B78F4B3}"/>
              </a:ext>
            </a:extLst>
          </p:cNvPr>
          <p:cNvSpPr/>
          <p:nvPr/>
        </p:nvSpPr>
        <p:spPr>
          <a:xfrm>
            <a:off x="303336" y="739689"/>
            <a:ext cx="11643360" cy="5355312"/>
          </a:xfrm>
          <a:prstGeom prst="rect">
            <a:avLst/>
          </a:prstGeom>
          <a:solidFill>
            <a:srgbClr val="0C2B34"/>
          </a:solidFill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function </a:t>
            </a:r>
            <a:r>
              <a:rPr lang="en-CA" dirty="0" err="1">
                <a:solidFill>
                  <a:srgbClr val="268BD2"/>
                </a:solidFill>
                <a:latin typeface="Menlo" panose="020B0609030804020204" pitchFamily="49" charset="0"/>
              </a:rPr>
              <a:t>payloadToSign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sender,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uint256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value,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spender,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uint256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nonce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public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view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returns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(</a:t>
            </a:r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bytes32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payload)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return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ECDSA.</a:t>
            </a:r>
            <a:r>
              <a:rPr lang="en-CA" dirty="0" err="1">
                <a:solidFill>
                  <a:srgbClr val="859900"/>
                </a:solidFill>
                <a:latin typeface="Menlo" panose="020B0609030804020204" pitchFamily="49" charset="0"/>
              </a:rPr>
              <a:t>toEthSignedMessageHash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  keccak256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abi.</a:t>
            </a:r>
            <a:r>
              <a:rPr lang="en-CA" dirty="0" err="1">
                <a:solidFill>
                  <a:srgbClr val="859900"/>
                </a:solidFill>
                <a:latin typeface="Menlo" panose="020B0609030804020204" pitchFamily="49" charset="0"/>
              </a:rPr>
              <a:t>encodePacked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    sender,        </a:t>
            </a:r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// Token Owner.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    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this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), </a:t>
            </a:r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// Token address (replay protection).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    value,         </a:t>
            </a:r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// Number of tokens.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    spender,       </a:t>
            </a:r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// Address being approved to spend.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    nonce          </a:t>
            </a:r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// Local sender specific nonce (replay protection).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  ))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);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}</a:t>
            </a:r>
            <a:endParaRPr lang="en-CA" b="0" dirty="0">
              <a:solidFill>
                <a:srgbClr val="BBBBB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759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698B75-EC96-AC4E-A403-81F19B78F4B3}"/>
              </a:ext>
            </a:extLst>
          </p:cNvPr>
          <p:cNvSpPr/>
          <p:nvPr/>
        </p:nvSpPr>
        <p:spPr>
          <a:xfrm>
            <a:off x="274320" y="1305342"/>
            <a:ext cx="11643360" cy="4247317"/>
          </a:xfrm>
          <a:prstGeom prst="rect">
            <a:avLst/>
          </a:prstGeom>
          <a:solidFill>
            <a:srgbClr val="0C2B34"/>
          </a:solidFill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function </a:t>
            </a:r>
            <a:r>
              <a:rPr lang="en-CA" dirty="0" err="1">
                <a:solidFill>
                  <a:srgbClr val="268BD2"/>
                </a:solidFill>
                <a:latin typeface="Menlo" panose="020B0609030804020204" pitchFamily="49" charset="0"/>
              </a:rPr>
              <a:t>verifyApproval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sender,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bytes32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payload,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bytes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signature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public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pure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returns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(</a:t>
            </a:r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bool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recoveredAddress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=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ECDSA.</a:t>
            </a:r>
            <a:r>
              <a:rPr lang="en-CA" dirty="0" err="1">
                <a:solidFill>
                  <a:srgbClr val="859900"/>
                </a:solidFill>
                <a:latin typeface="Menlo" panose="020B0609030804020204" pitchFamily="49" charset="0"/>
              </a:rPr>
              <a:t>recover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  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ECDSA.</a:t>
            </a:r>
            <a:r>
              <a:rPr lang="en-CA" dirty="0" err="1">
                <a:solidFill>
                  <a:srgbClr val="859900"/>
                </a:solidFill>
                <a:latin typeface="Menlo" panose="020B0609030804020204" pitchFamily="49" charset="0"/>
              </a:rPr>
              <a:t>toEthSignedMessageHash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(payload),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  signature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);</a:t>
            </a:r>
          </a:p>
          <a:p>
            <a:b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</a:b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return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recoveredAddress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==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sender;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973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698B75-EC96-AC4E-A403-81F19B78F4B3}"/>
              </a:ext>
            </a:extLst>
          </p:cNvPr>
          <p:cNvSpPr/>
          <p:nvPr/>
        </p:nvSpPr>
        <p:spPr>
          <a:xfrm>
            <a:off x="274320" y="197346"/>
            <a:ext cx="11643360" cy="6463308"/>
          </a:xfrm>
          <a:prstGeom prst="rect">
            <a:avLst/>
          </a:prstGeom>
          <a:solidFill>
            <a:srgbClr val="0C2B34"/>
          </a:solidFill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function </a:t>
            </a:r>
            <a:r>
              <a:rPr lang="en-CA" dirty="0" err="1">
                <a:solidFill>
                  <a:srgbClr val="268BD2"/>
                </a:solidFill>
                <a:latin typeface="Menlo" panose="020B0609030804020204" pitchFamily="49" charset="0"/>
              </a:rPr>
              <a:t>metapprove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sender,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uint256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value,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spender,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uint256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nonce,</a:t>
            </a: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bytes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signature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public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returns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(</a:t>
            </a:r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bool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success) {</a:t>
            </a:r>
          </a:p>
          <a:p>
            <a:b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</a:b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</a:t>
            </a:r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// Verify and increment nonce.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require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  <a:r>
              <a:rPr lang="en-CA" dirty="0" err="1">
                <a:solidFill>
                  <a:srgbClr val="859900"/>
                </a:solidFill>
                <a:latin typeface="Menlo" panose="020B0609030804020204" pitchFamily="49" charset="0"/>
              </a:rPr>
              <a:t>getNonce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(sender)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==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nonce);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_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nonces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[sender]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=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_</a:t>
            </a:r>
            <a:r>
              <a:rPr lang="en-CA" dirty="0" err="1">
                <a:solidFill>
                  <a:srgbClr val="BBBBBB"/>
                </a:solidFill>
                <a:latin typeface="Menlo" panose="020B0609030804020204" pitchFamily="49" charset="0"/>
              </a:rPr>
              <a:t>nonces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[sender].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add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  <a:r>
              <a:rPr lang="en-CA" dirty="0">
                <a:solidFill>
                  <a:srgbClr val="D33682"/>
                </a:solidFill>
                <a:latin typeface="Menlo" panose="020B0609030804020204" pitchFamily="49" charset="0"/>
              </a:rPr>
              <a:t>1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);</a:t>
            </a:r>
          </a:p>
          <a:p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  // Verify signature.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  bytes32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payload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=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 err="1">
                <a:solidFill>
                  <a:srgbClr val="859900"/>
                </a:solidFill>
                <a:latin typeface="Menlo" panose="020B0609030804020204" pitchFamily="49" charset="0"/>
              </a:rPr>
              <a:t>payloadToSign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(sender, value, spender, nonce);</a:t>
            </a: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require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  <a:r>
              <a:rPr lang="en-CA" dirty="0" err="1">
                <a:solidFill>
                  <a:srgbClr val="859900"/>
                </a:solidFill>
                <a:latin typeface="Menlo" panose="020B0609030804020204" pitchFamily="49" charset="0"/>
              </a:rPr>
              <a:t>verifyApproval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(sender, payload, signature));</a:t>
            </a:r>
          </a:p>
          <a:p>
            <a:b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</a:b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</a:t>
            </a:r>
            <a:r>
              <a:rPr lang="en-CA" i="1" dirty="0">
                <a:solidFill>
                  <a:srgbClr val="657B83"/>
                </a:solidFill>
                <a:latin typeface="Menlo" panose="020B0609030804020204" pitchFamily="49" charset="0"/>
              </a:rPr>
              <a:t>// Standard approve.</a:t>
            </a:r>
            <a:endParaRPr lang="en-CA" dirty="0">
              <a:solidFill>
                <a:srgbClr val="BBBBBB"/>
              </a:solidFill>
              <a:latin typeface="Menlo" panose="020B0609030804020204" pitchFamily="49" charset="0"/>
            </a:endParaRP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require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(spender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!=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address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</a:t>
            </a:r>
            <a:r>
              <a:rPr lang="en-CA" dirty="0">
                <a:solidFill>
                  <a:srgbClr val="D33682"/>
                </a:solidFill>
                <a:latin typeface="Menlo" panose="020B0609030804020204" pitchFamily="49" charset="0"/>
              </a:rPr>
              <a:t>0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));</a:t>
            </a:r>
          </a:p>
          <a:p>
            <a:b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</a:b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_allowed[sender][spender]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=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value;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 emit </a:t>
            </a:r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Approval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(sender, spender, value);</a:t>
            </a:r>
          </a:p>
          <a:p>
            <a:r>
              <a:rPr lang="en-CA" dirty="0">
                <a:solidFill>
                  <a:srgbClr val="859900"/>
                </a:solidFill>
                <a:latin typeface="Menlo" panose="020B0609030804020204" pitchFamily="49" charset="0"/>
              </a:rPr>
              <a:t>  return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 </a:t>
            </a:r>
            <a:r>
              <a:rPr lang="en-CA" dirty="0">
                <a:solidFill>
                  <a:srgbClr val="B58900"/>
                </a:solidFill>
                <a:latin typeface="Menlo" panose="020B0609030804020204" pitchFamily="49" charset="0"/>
              </a:rPr>
              <a:t>true</a:t>
            </a:r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CA" dirty="0">
                <a:solidFill>
                  <a:srgbClr val="BBBBBB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5076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869"/>
            <a:ext cx="10515600" cy="816292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To Note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D2F32926-E9D5-794C-A884-F5EE2C3FA0BE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4848860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Replay protection</a:t>
            </a:r>
          </a:p>
          <a:p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Smart contract now responsible for work the protocol would have done for you. 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54C4470-2B46-0B44-8A13-2289C2FC0224}"/>
              </a:ext>
            </a:extLst>
          </p:cNvPr>
          <p:cNvSpPr txBox="1">
            <a:spLocks/>
          </p:cNvSpPr>
          <p:nvPr/>
        </p:nvSpPr>
        <p:spPr>
          <a:xfrm>
            <a:off x="6322060" y="1709738"/>
            <a:ext cx="4848860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Fees</a:t>
            </a:r>
          </a:p>
          <a:p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Can charge a fee in ETH or in tokens. 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22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869"/>
            <a:ext cx="10515600" cy="816292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Other Approaches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D2F32926-E9D5-794C-A884-F5EE2C3FA0BE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4848860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Merkle Root Redemption</a:t>
            </a:r>
          </a:p>
          <a:p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See: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3"/>
              </a:rPr>
              <a:t>https://blog.ricmoo.com/merkle-air-drops-e6406945584d?gi=5c1c7f05c466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</a:t>
            </a:r>
            <a:endParaRPr lang="en-CA" sz="20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54C4470-2B46-0B44-8A13-2289C2FC0224}"/>
              </a:ext>
            </a:extLst>
          </p:cNvPr>
          <p:cNvSpPr txBox="1">
            <a:spLocks/>
          </p:cNvSpPr>
          <p:nvPr/>
        </p:nvSpPr>
        <p:spPr>
          <a:xfrm>
            <a:off x="6322060" y="1709738"/>
            <a:ext cx="4848860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One Time Address</a:t>
            </a:r>
          </a:p>
          <a:p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See: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4"/>
              </a:rPr>
              <a:t>https://medium.com/@weka/how-to-send-ether-to-11-440-people-187e332566b7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92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D6DE7E-73B7-4DBE-9D0A-91E2DF73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869"/>
            <a:ext cx="10515600" cy="816292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401758"/>
                </a:solidFill>
                <a:latin typeface="Abadi Extra Light" panose="020B0604020202020204" pitchFamily="34" charset="0"/>
                <a:ea typeface="+mn-ea"/>
                <a:cs typeface="+mn-cs"/>
              </a:rPr>
              <a:t>Further Reading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74DC7-44C5-4EF1-AC09-F4D784CF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D2F32926-E9D5-794C-A884-F5EE2C3FA0BE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8735060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3"/>
              </a:rPr>
              <a:t>https://metatx.io/</a:t>
            </a:r>
          </a:p>
          <a:p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  <a:hlinkClick r:id="rId3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3"/>
              </a:rPr>
              <a:t>https://eips.ethereum.org/EIPS/eip-1077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</a:t>
            </a:r>
          </a:p>
          <a:p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CA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4"/>
              </a:rPr>
              <a:t>https://medium.com/coinmonks/gasless-transactions-f75382095c4f</a:t>
            </a:r>
            <a:r>
              <a:rPr lang="en-CA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</a:t>
            </a:r>
          </a:p>
          <a:p>
            <a:endParaRPr lang="en-CA" sz="20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CA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5"/>
              </a:rPr>
              <a:t>https://github.com/jpitts/eth-community-discussions/blob/master/meta-transactions.md</a:t>
            </a:r>
            <a:r>
              <a:rPr lang="en-CA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</a:t>
            </a:r>
          </a:p>
          <a:p>
            <a:endParaRPr lang="en-CA" sz="20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  <a:p>
            <a:r>
              <a:rPr lang="en-CA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  <a:hlinkClick r:id="rId6"/>
              </a:rPr>
              <a:t>https://tagloyalty.com</a:t>
            </a:r>
            <a:r>
              <a:rPr lang="en-CA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56010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24AB-326F-49D0-A5BB-6A6A1D431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214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Thank You </a:t>
            </a:r>
            <a:b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</a:b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  <a:ea typeface="+mn-ea"/>
                <a:cs typeface="+mn-cs"/>
              </a:rPr>
              <a:t>for you time today</a:t>
            </a:r>
            <a:endParaRPr lang="en-CA" sz="28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EC723-2571-40C8-B750-6FC5CCE6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1049"/>
            <a:ext cx="9144000" cy="1655762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We would love to hear from you</a:t>
            </a:r>
          </a:p>
          <a:p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378B0D-C139-4323-9477-C1EF8D49DE7D}"/>
              </a:ext>
            </a:extLst>
          </p:cNvPr>
          <p:cNvSpPr/>
          <p:nvPr/>
        </p:nvSpPr>
        <p:spPr>
          <a:xfrm>
            <a:off x="2438395" y="3286539"/>
            <a:ext cx="2239618" cy="2093843"/>
          </a:xfrm>
          <a:prstGeom prst="roundRect">
            <a:avLst/>
          </a:prstGeom>
          <a:solidFill>
            <a:schemeClr val="bg1"/>
          </a:solidFill>
          <a:ln>
            <a:solidFill>
              <a:srgbClr val="401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\\\\\\\\\</a:t>
            </a:r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3F3E1E-22BB-42D8-9018-141AD28557D0}"/>
              </a:ext>
            </a:extLst>
          </p:cNvPr>
          <p:cNvSpPr/>
          <p:nvPr/>
        </p:nvSpPr>
        <p:spPr>
          <a:xfrm>
            <a:off x="7573613" y="3266661"/>
            <a:ext cx="2239618" cy="2093843"/>
          </a:xfrm>
          <a:prstGeom prst="roundRect">
            <a:avLst/>
          </a:prstGeom>
          <a:solidFill>
            <a:schemeClr val="bg1"/>
          </a:solidFill>
          <a:ln>
            <a:solidFill>
              <a:srgbClr val="401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9BA662-8DA9-4DA4-BCA4-31FAB40B2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060" y="5628360"/>
            <a:ext cx="907636" cy="8645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7523AF-19CB-4361-AD2A-CB64C6FF1F33}"/>
              </a:ext>
            </a:extLst>
          </p:cNvPr>
          <p:cNvSpPr txBox="1"/>
          <p:nvPr/>
        </p:nvSpPr>
        <p:spPr>
          <a:xfrm>
            <a:off x="2555127" y="3898232"/>
            <a:ext cx="2075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Morgan Kelly</a:t>
            </a:r>
          </a:p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647.402.1640</a:t>
            </a:r>
          </a:p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morgan@tagloyalty.com</a:t>
            </a:r>
            <a:endParaRPr lang="en-CA" sz="1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7EE8A-2E48-4A65-85D4-F096AFBEF4B3}"/>
              </a:ext>
            </a:extLst>
          </p:cNvPr>
          <p:cNvSpPr txBox="1"/>
          <p:nvPr/>
        </p:nvSpPr>
        <p:spPr>
          <a:xfrm>
            <a:off x="7781026" y="3918280"/>
            <a:ext cx="1866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Noah Marconi</a:t>
            </a:r>
          </a:p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647.669.5538</a:t>
            </a:r>
          </a:p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604020202020204" pitchFamily="34" charset="0"/>
              </a:rPr>
              <a:t>noah@tagloyalty.com</a:t>
            </a:r>
            <a:endParaRPr lang="en-CA" sz="1600" dirty="0">
              <a:solidFill>
                <a:schemeClr val="tx1">
                  <a:lumMod val="50000"/>
                  <a:lumOff val="50000"/>
                </a:schemeClr>
              </a:solidFill>
              <a:latin typeface="Abadi Extra Ligh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17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1967</TotalTime>
  <Words>564</Words>
  <Application>Microsoft Macintosh PowerPoint</Application>
  <PresentationFormat>Widescreen</PresentationFormat>
  <Paragraphs>147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Abadi Extra Light</vt:lpstr>
      <vt:lpstr>Andale Mono</vt:lpstr>
      <vt:lpstr>Arial</vt:lpstr>
      <vt:lpstr>Calibri</vt:lpstr>
      <vt:lpstr>Calibri Light</vt:lpstr>
      <vt:lpstr>Menlo</vt:lpstr>
      <vt:lpstr>Office Theme</vt:lpstr>
      <vt:lpstr>PowerPoint Presentation</vt:lpstr>
      <vt:lpstr>Why Ether Exists?</vt:lpstr>
      <vt:lpstr>Story Time</vt:lpstr>
      <vt:lpstr>{     // Required unless deploying a contract (in which case omit)     to: addressOrName,  // the target address or ENS name      // These are optional/meaningless for call and estimateGas     nonce: 0,           // the transaction nonce     gasLimit: 0,        // the maximum gas this transaction may spend     gasPrice: 0,        // the price (in wei) per unit of gas      // These are always optional (but for call, data is usually specified)     data: "0x",         // extra data for the transaction, or input for call     value: 0,           // the amount (in wei) this transaction is sending     chainId: 3          // the network ID; usually added by a signer }</vt:lpstr>
      <vt:lpstr>{     // Required unless deploying a contract (in which case omit)     to: addressOrName,  // the target address or ENS name      // These are optional/meaningless for call and estimateGas     nonce: 0,           // the transaction nonce     gasLimit: 0,        // the maximum gas this transaction may spend     gasPrice: 0,        // the price (in wei) per unit of gas      // These are always optional (but for call, data is usually specified)     data: "0x",         // extra data for the transaction, or input for call     value: 0,           // the amount (in wei) this transaction is sending     chainId: 3          // the network ID; usually added by a signer }</vt:lpstr>
      <vt:lpstr>{     // Required unless deploying a contract (in which case omit)     to: addressOrName,  // the target address or ENS name      // These are optional/meaningless for call and estimateGas     nonce: 0,           // the transaction nonce     gasLimit: 0,        // the maximum gas this transaction may spend     gasPrice: 0,        // the price (in wei) per unit of gas      // These are always optional (but for call, data is usually specified)     data: "0x",         // extra data for the transaction, or input for call     value: 0,           // the amount (in wei) this transaction is sending     chainId: 3          // the network ID; usually added by a signer }</vt:lpstr>
      <vt:lpstr>{     // Required unless deploying a contract (in which case omit)     to: addressOrName,  // the target address or ENS name      // These are optional/meaningless for call and estimateGas     nonce: 0,           // the transaction nonce     gasLimit: 0,        // the maximum gas this transaction may spend     gasPrice: 0,        // the price (in wei) per unit of gas      // These are always optional (but for call, data is usually specified)     data: "0x",         // extra data for the transaction, or input for call     value: 0,           // the amount (in wei) this transaction is sending     chainId: 3          // the network ID; usually added by a signer }</vt:lpstr>
      <vt:lpstr>{     // Required unless deploying a contract (in which case omit)     to: addressOrName,  // the target address or ENS name      // These are optional/meaningless for call and estimateGas     nonce: 0,           // the transaction nonce     gasLimit: 0,        // the maximum gas this transaction may spend     gasPrice: 0,        // the price (in wei) per unit of gas      // These are always optional (but for call, data is usually specified)     data: "0x",         // extra data for the transaction, or input for call     value: 0,           // the amount (in wei) this transaction is sending     chainId: 3          // the network ID; usually added by a signer }</vt:lpstr>
      <vt:lpstr>hash and sign</vt:lpstr>
      <vt:lpstr>PowerPoint Presentation</vt:lpstr>
      <vt:lpstr>PowerPoint Presentation</vt:lpstr>
      <vt:lpstr>Demo Time</vt:lpstr>
      <vt:lpstr>PowerPoint Presentation</vt:lpstr>
      <vt:lpstr>PowerPoint Presentation</vt:lpstr>
      <vt:lpstr>PowerPoint Presentation</vt:lpstr>
      <vt:lpstr>PowerPoint Presentation</vt:lpstr>
      <vt:lpstr>To Note</vt:lpstr>
      <vt:lpstr>Other Approaches</vt:lpstr>
      <vt:lpstr>Further Reading</vt:lpstr>
      <vt:lpstr>Thank You  for you time today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Kelly</dc:creator>
  <cp:lastModifiedBy>Noah Marconi</cp:lastModifiedBy>
  <cp:revision>100</cp:revision>
  <dcterms:created xsi:type="dcterms:W3CDTF">2018-08-17T17:26:34Z</dcterms:created>
  <dcterms:modified xsi:type="dcterms:W3CDTF">2018-11-28T21:57:37Z</dcterms:modified>
</cp:coreProperties>
</file>